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26880" y="914400"/>
            <a:ext cx="1143000" cy="114300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95560" y="1874519"/>
            <a:ext cx="685800" cy="685800"/>
          </a:xfrm>
          <a:prstGeom prst="ellipse">
            <a:avLst/>
          </a:prstGeom>
          <a:solidFill>
            <a:srgbClr val="FF7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732520" y="2240280"/>
            <a:ext cx="411480" cy="411480"/>
          </a:xfrm>
          <a:prstGeom prst="ellipse">
            <a:avLst/>
          </a:prstGeom>
          <a:solidFill>
            <a:srgbClr val="FFC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3017520"/>
            <a:ext cx="1005840" cy="1005840"/>
          </a:xfrm>
          <a:prstGeom prst="ellipse">
            <a:avLst/>
          </a:prstGeom>
          <a:solidFill>
            <a:srgbClr val="14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006840" y="3657600"/>
            <a:ext cx="594360" cy="594360"/>
          </a:xfrm>
          <a:prstGeom prst="ellipse">
            <a:avLst/>
          </a:prstGeom>
          <a:solidFill>
            <a:srgbClr val="B1F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051560"/>
            <a:ext cx="71323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DD4BF"/>
                </a:solidFill>
                <a:latin typeface="Aptos"/>
              </a:defRPr>
            </a:pPr>
            <a:r>
              <a:t>DATA ANALYTICS MINI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45920"/>
            <a:ext cx="7772400" cy="1463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3400" b="1">
                <a:solidFill>
                  <a:srgbClr val="F5F8FA"/>
                </a:solidFill>
                <a:latin typeface="Aptos"/>
              </a:defRPr>
            </a:pPr>
            <a:r>
              <a:t>AIR POLLUTION</a:t>
            </a:r>
          </a:p>
          <a:p>
            <a:pPr>
              <a:spcAft>
                <a:spcPts val="700"/>
              </a:spcAft>
              <a:defRPr sz="3400" b="1">
                <a:solidFill>
                  <a:srgbClr val="F5F8FA"/>
                </a:solidFill>
                <a:latin typeface="Aptos"/>
              </a:defRPr>
            </a:pPr>
            <a:r>
              <a:t>&amp; WEATHER PATTERNS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74720"/>
            <a:ext cx="685800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B0C1CD"/>
                </a:solidFill>
                <a:latin typeface="Aptos"/>
              </a:defRPr>
            </a:pPr>
            <a:r>
              <a:t>What can a city-level snapshot tell us about PM2.5, weather and location?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800600"/>
            <a:ext cx="3749039" cy="530352"/>
          </a:xfrm>
          <a:prstGeom prst="roundRect">
            <a:avLst/>
          </a:prstGeom>
          <a:solidFill>
            <a:srgbClr val="14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937760"/>
            <a:ext cx="338328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B1F5E0"/>
                </a:solidFill>
                <a:latin typeface="Aptos"/>
              </a:defRPr>
            </a:pPr>
            <a:r>
              <a:t>EXPLORATORY DATA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217920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B0C1CD"/>
                </a:solidFill>
                <a:latin typeface="Aptos"/>
              </a:defRPr>
            </a:pPr>
            <a:r>
              <a:t>Dataset: supplied OpenWeather CSV  •  Focus: patterns, not causation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DD4BF"/>
                </a:solidFill>
                <a:latin typeface="Aptos"/>
              </a:defRPr>
            </a:pPr>
            <a:r>
              <a:t>01  /  PROJECT FRAMING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5F8FA"/>
                </a:solidFill>
                <a:latin typeface="Aptos"/>
              </a:defRPr>
            </a:pPr>
            <a:r>
              <a:t>Start with one clear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914400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800" b="1">
                <a:solidFill>
                  <a:srgbClr val="B0C1CD"/>
                </a:solidFill>
                <a:latin typeface="Aptos"/>
              </a:defRPr>
            </a:pPr>
            <a:r>
              <a:t>AIR POLLUTION + WEATHER  •  EXPLORATORY DATA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2DD4B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475488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DD4BF"/>
                </a:solidFill>
                <a:latin typeface="Aptos"/>
              </a:defRPr>
            </a:pPr>
            <a:r>
              <a:t>THE MAIN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4937760" cy="1143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400" b="1">
                <a:solidFill>
                  <a:srgbClr val="F5F8FA"/>
                </a:solidFill>
                <a:latin typeface="Aptos"/>
              </a:defRPr>
            </a:pPr>
            <a:r>
              <a:t>How do observed pollution levels vary with weather conditions and location?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600200"/>
            <a:ext cx="5303520" cy="3566160"/>
          </a:xfrm>
          <a:prstGeom prst="roundRect">
            <a:avLst/>
          </a:prstGeom>
          <a:solidFill>
            <a:srgbClr val="14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874519"/>
            <a:ext cx="46634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DD4BF"/>
                </a:solidFill>
                <a:latin typeface="Aptos"/>
              </a:defRPr>
            </a:pPr>
            <a:r>
              <a:t>WHAT THIS PROJECT DOES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432304"/>
            <a:ext cx="118872" cy="118872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377440"/>
            <a:ext cx="4297680" cy="5577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A"/>
                </a:solidFill>
                <a:latin typeface="Aptos"/>
              </a:defRPr>
            </a:pPr>
            <a:r>
              <a:t>Summarises the dataset and checks data quality.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3035808"/>
            <a:ext cx="118872" cy="118872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2980944"/>
            <a:ext cx="4297680" cy="5577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A"/>
                </a:solidFill>
                <a:latin typeface="Aptos"/>
              </a:defRPr>
            </a:pPr>
            <a:r>
              <a:t>Compares PM2.5 across weather and continent groups.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3639312"/>
            <a:ext cx="118872" cy="118872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3584448"/>
            <a:ext cx="4297680" cy="5577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A"/>
                </a:solidFill>
                <a:latin typeface="Aptos"/>
              </a:defRPr>
            </a:pPr>
            <a:r>
              <a:t>Tests selected differences using five statistical tests.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4242816"/>
            <a:ext cx="118872" cy="118872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4187952"/>
            <a:ext cx="4297680" cy="5577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A"/>
                </a:solidFill>
                <a:latin typeface="Aptos"/>
              </a:defRPr>
            </a:pPr>
            <a:r>
              <a:t>Explains results with clear limits and caveats.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DD4BF"/>
                </a:solidFill>
                <a:latin typeface="Aptos"/>
              </a:defRPr>
            </a:pPr>
            <a:r>
              <a:t>02  / 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5F8FA"/>
                </a:solidFill>
                <a:latin typeface="Aptos"/>
              </a:defRPr>
            </a:pPr>
            <a:r>
              <a:t>A broad snapshot of cities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914400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800" b="1">
                <a:solidFill>
                  <a:srgbClr val="B0C1CD"/>
                </a:solidFill>
                <a:latin typeface="Aptos"/>
              </a:defRPr>
            </a:pPr>
            <a:r>
              <a:t>AIR POLLUTION + WEATHER  •  EXPLORATORY DATA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2DD4B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2560320" cy="2011680"/>
          </a:xfrm>
          <a:prstGeom prst="roundRect">
            <a:avLst/>
          </a:prstGeom>
          <a:solidFill>
            <a:srgbClr val="14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00200"/>
            <a:ext cx="64008" cy="20116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83080"/>
            <a:ext cx="219456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B0C1CD"/>
                </a:solidFill>
                <a:latin typeface="Aptos"/>
              </a:defRPr>
            </a:pPr>
            <a:r>
              <a:t>ROWS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30552"/>
            <a:ext cx="219456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2DD4BF"/>
                </a:solidFill>
                <a:latin typeface="Aptos"/>
              </a:defRPr>
            </a:pPr>
            <a:r>
              <a:t>108,467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697480"/>
            <a:ext cx="2176272" cy="822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F5F8FA"/>
                </a:solidFill>
                <a:latin typeface="Aptos"/>
              </a:defRPr>
            </a:pPr>
            <a:r>
              <a:t>Weather and air-pollution records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1600200"/>
            <a:ext cx="2560320" cy="2011680"/>
          </a:xfrm>
          <a:prstGeom prst="roundRect">
            <a:avLst/>
          </a:prstGeom>
          <a:solidFill>
            <a:srgbClr val="14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20440" y="1600200"/>
            <a:ext cx="64008" cy="2011680"/>
          </a:xfrm>
          <a:prstGeom prst="rect">
            <a:avLst/>
          </a:prstGeom>
          <a:solidFill>
            <a:srgbClr val="FF7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21608" y="1783080"/>
            <a:ext cx="219456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B0C1CD"/>
                </a:solidFill>
                <a:latin typeface="Aptos"/>
              </a:defRPr>
            </a:pPr>
            <a:r>
              <a:t>COLUMNS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21608" y="2130552"/>
            <a:ext cx="219456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FF7564"/>
                </a:solidFill>
                <a:latin typeface="Aptos"/>
              </a:defRPr>
            </a:pPr>
            <a:r>
              <a:t>88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21608" y="2697480"/>
            <a:ext cx="2176272" cy="822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F5F8FA"/>
                </a:solidFill>
                <a:latin typeface="Aptos"/>
              </a:defRPr>
            </a:pPr>
            <a:r>
              <a:t>Measurements and descriptive fields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600200"/>
            <a:ext cx="2560320" cy="2011680"/>
          </a:xfrm>
          <a:prstGeom prst="roundRect">
            <a:avLst/>
          </a:prstGeom>
          <a:solidFill>
            <a:srgbClr val="14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1600200"/>
            <a:ext cx="64008" cy="2011680"/>
          </a:xfrm>
          <a:prstGeom prst="rect">
            <a:avLst/>
          </a:prstGeom>
          <a:solidFill>
            <a:srgbClr val="FFC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1783080"/>
            <a:ext cx="219456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B0C1CD"/>
                </a:solidFill>
                <a:latin typeface="Aptos"/>
              </a:defRPr>
            </a:pPr>
            <a:r>
              <a:t>CITIES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2130552"/>
            <a:ext cx="219456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FFCF66"/>
                </a:solidFill>
                <a:latin typeface="Aptos"/>
              </a:defRPr>
            </a:pPr>
            <a:r>
              <a:t>598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2697480"/>
            <a:ext cx="2176272" cy="822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F5F8FA"/>
                </a:solidFill>
                <a:latin typeface="Aptos"/>
              </a:defRPr>
            </a:pPr>
            <a:r>
              <a:t>Unique cities represented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98280" y="1600200"/>
            <a:ext cx="2331720" cy="2011680"/>
          </a:xfrm>
          <a:prstGeom prst="roundRect">
            <a:avLst/>
          </a:prstGeom>
          <a:solidFill>
            <a:srgbClr val="14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98280" y="1600200"/>
            <a:ext cx="64008" cy="2011680"/>
          </a:xfrm>
          <a:prstGeom prst="rect">
            <a:avLst/>
          </a:prstGeom>
          <a:solidFill>
            <a:srgbClr val="B1F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99448" y="1783080"/>
            <a:ext cx="196596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B0C1CD"/>
                </a:solidFill>
                <a:latin typeface="Aptos"/>
              </a:defRPr>
            </a:pPr>
            <a:r>
              <a:t>COUNTRIES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9448" y="2130552"/>
            <a:ext cx="196596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B1F5E0"/>
                </a:solidFill>
                <a:latin typeface="Aptos"/>
              </a:defRPr>
            </a:pPr>
            <a:r>
              <a:t>209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9448" y="2697480"/>
            <a:ext cx="1947672" cy="822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F5F8FA"/>
                </a:solidFill>
                <a:latin typeface="Aptos"/>
              </a:defRPr>
            </a:pPr>
            <a:r>
              <a:t>Coverage across countries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069080"/>
            <a:ext cx="105156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DD4BF"/>
                </a:solidFill>
                <a:latin typeface="Aptos"/>
              </a:defRPr>
            </a:pPr>
            <a:r>
              <a:t>CORE MEASURES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4526280"/>
            <a:ext cx="2514600" cy="1143000"/>
          </a:xfrm>
          <a:prstGeom prst="roundRect">
            <a:avLst/>
          </a:prstGeom>
          <a:solidFill>
            <a:srgbClr val="14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4709160"/>
            <a:ext cx="21945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5F8FA"/>
                </a:solidFill>
                <a:latin typeface="Aptos"/>
              </a:defRPr>
            </a:pPr>
            <a:r>
              <a:t>PM2.5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" y="5047488"/>
            <a:ext cx="219456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B0C1CD"/>
                </a:solidFill>
                <a:latin typeface="Aptos"/>
              </a:defRPr>
            </a:pPr>
            <a:r>
              <a:t>Fine particulate matter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566160" y="4526280"/>
            <a:ext cx="2514600" cy="1143000"/>
          </a:xfrm>
          <a:prstGeom prst="roundRect">
            <a:avLst/>
          </a:prstGeom>
          <a:solidFill>
            <a:srgbClr val="14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30752" y="4709160"/>
            <a:ext cx="21945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5F8FA"/>
                </a:solidFill>
                <a:latin typeface="Aptos"/>
              </a:defRPr>
            </a:pPr>
            <a:r>
              <a:t>AQI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30752" y="5047488"/>
            <a:ext cx="219456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B0C1CD"/>
                </a:solidFill>
                <a:latin typeface="Aptos"/>
              </a:defRPr>
            </a:pPr>
            <a:r>
              <a:t>Air Quality Index category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55079" y="4526280"/>
            <a:ext cx="2514600" cy="1143000"/>
          </a:xfrm>
          <a:prstGeom prst="roundRect">
            <a:avLst/>
          </a:prstGeom>
          <a:solidFill>
            <a:srgbClr val="14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19671" y="4709160"/>
            <a:ext cx="21945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5F8FA"/>
                </a:solidFill>
                <a:latin typeface="Aptos"/>
              </a:defRPr>
            </a:pPr>
            <a:r>
              <a:t>Weather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19671" y="5047488"/>
            <a:ext cx="219456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B0C1CD"/>
                </a:solidFill>
                <a:latin typeface="Aptos"/>
              </a:defRPr>
            </a:pPr>
            <a:r>
              <a:t>Condition labels and rain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3999" y="4526280"/>
            <a:ext cx="2514600" cy="1143000"/>
          </a:xfrm>
          <a:prstGeom prst="roundRect">
            <a:avLst/>
          </a:prstGeom>
          <a:solidFill>
            <a:srgbClr val="14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08591" y="4709160"/>
            <a:ext cx="21945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5F8FA"/>
                </a:solidFill>
                <a:latin typeface="Aptos"/>
              </a:defRPr>
            </a:pPr>
            <a:r>
              <a:t>Context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08591" y="5047488"/>
            <a:ext cx="219456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B0C1CD"/>
                </a:solidFill>
                <a:latin typeface="Aptos"/>
              </a:defRPr>
            </a:pPr>
            <a:r>
              <a:t>Temperature, humidity, wind and location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DD4BF"/>
                </a:solidFill>
                <a:latin typeface="Aptos"/>
              </a:defRPr>
            </a:pPr>
            <a:r>
              <a:t>03  /  DATA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5F8FA"/>
                </a:solidFill>
                <a:latin typeface="Aptos"/>
              </a:defRPr>
            </a:pPr>
            <a:r>
              <a:t>Check the data before interpreting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914400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800" b="1">
                <a:solidFill>
                  <a:srgbClr val="B0C1CD"/>
                </a:solidFill>
                <a:latin typeface="Aptos"/>
              </a:defRPr>
            </a:pPr>
            <a:r>
              <a:t>AIR POLLUTION + WEATHER  •  EXPLORATORY DATA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2DD4B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700784"/>
            <a:ext cx="118872" cy="118872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645920"/>
            <a:ext cx="10241280" cy="7040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5F8FA"/>
                </a:solidFill>
                <a:latin typeface="Aptos"/>
              </a:defRPr>
            </a:pPr>
            <a:r>
              <a:t>Kept the original data and used a separate working copy for cleaning.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450592"/>
            <a:ext cx="118872" cy="118872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395728"/>
            <a:ext cx="10241280" cy="7040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5F8FA"/>
                </a:solidFill>
                <a:latin typeface="Aptos"/>
              </a:defRPr>
            </a:pPr>
            <a:r>
              <a:t>Converted timestamps and measurement fields to usable data types.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200400"/>
            <a:ext cx="118872" cy="118872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145536"/>
            <a:ext cx="10241280" cy="7040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5F8FA"/>
                </a:solidFill>
                <a:latin typeface="Aptos"/>
              </a:defRPr>
            </a:pPr>
            <a:r>
              <a:t>Exact duplicate rows were not found in the supplied file.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950207"/>
            <a:ext cx="118872" cy="118872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895344"/>
            <a:ext cx="10241280" cy="7040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5F8FA"/>
                </a:solidFill>
                <a:latin typeface="Aptos"/>
              </a:defRPr>
            </a:pPr>
            <a:r>
              <a:t>Some fields are missing; wind gust and continent have notable gaps.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700016"/>
            <a:ext cx="118872" cy="118872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645152"/>
            <a:ext cx="10241280" cy="7040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5F8FA"/>
                </a:solidFill>
                <a:latin typeface="Aptos"/>
              </a:defRPr>
            </a:pPr>
            <a:r>
              <a:t>Repeated city/time keys should be reviewed before treating every row as independent.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5623560"/>
            <a:ext cx="10424160" cy="475488"/>
          </a:xfrm>
          <a:prstGeom prst="roundRect">
            <a:avLst/>
          </a:prstGeom>
          <a:solidFill>
            <a:srgbClr val="14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742432"/>
            <a:ext cx="996696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FFCF66"/>
                </a:solidFill>
                <a:latin typeface="Aptos"/>
              </a:defRPr>
            </a:pPr>
            <a:r>
              <a:t>Important: collection timestamps span several months; verify this before making time or seasonal claims.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DD4BF"/>
                </a:solidFill>
                <a:latin typeface="Aptos"/>
              </a:defRPr>
            </a:pPr>
            <a:r>
              <a:t>04  /  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5F8FA"/>
                </a:solidFill>
                <a:latin typeface="Aptos"/>
              </a:defRPr>
            </a:pPr>
            <a:r>
              <a:t>Three patterns stand 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914400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800" b="1">
                <a:solidFill>
                  <a:srgbClr val="B0C1CD"/>
                </a:solidFill>
                <a:latin typeface="Aptos"/>
              </a:defRPr>
            </a:pPr>
            <a:r>
              <a:t>AIR POLLUTION + WEATHER  •  EXPLORATORY DATA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2DD4B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83280" cy="2240280"/>
          </a:xfrm>
          <a:prstGeom prst="roundRect">
            <a:avLst/>
          </a:prstGeom>
          <a:solidFill>
            <a:srgbClr val="14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64008" cy="22402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28800"/>
            <a:ext cx="301752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B0C1CD"/>
                </a:solidFill>
                <a:latin typeface="Aptos"/>
              </a:defRPr>
            </a:pPr>
            <a:r>
              <a:t>PM2.5 MEDIAN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30175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2DD4BF"/>
                </a:solidFill>
                <a:latin typeface="Aptos"/>
              </a:defRPr>
            </a:pPr>
            <a:r>
              <a:t>3.73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743200"/>
            <a:ext cx="2999232" cy="1051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F5F8FA"/>
                </a:solidFill>
                <a:latin typeface="Aptos"/>
              </a:defRPr>
            </a:pPr>
            <a:r>
              <a:t>Mean is higher at 10.63, suggesting a right-skewed distribution.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645920"/>
            <a:ext cx="3383280" cy="2240280"/>
          </a:xfrm>
          <a:prstGeom prst="roundRect">
            <a:avLst/>
          </a:prstGeom>
          <a:solidFill>
            <a:srgbClr val="14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645920"/>
            <a:ext cx="64008" cy="2240280"/>
          </a:xfrm>
          <a:prstGeom prst="rect">
            <a:avLst/>
          </a:prstGeom>
          <a:solidFill>
            <a:srgbClr val="FF7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1828800"/>
            <a:ext cx="301752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B0C1CD"/>
                </a:solidFill>
                <a:latin typeface="Aptos"/>
              </a:defRPr>
            </a:pPr>
            <a:r>
              <a:t>HIGH AQI SHARE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176272"/>
            <a:ext cx="30175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FF7564"/>
                </a:solidFill>
                <a:latin typeface="Aptos"/>
              </a:defRPr>
            </a:pPr>
            <a:r>
              <a:t>17.34%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743200"/>
            <a:ext cx="2999232" cy="1051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F5F8FA"/>
                </a:solidFill>
                <a:latin typeface="Aptos"/>
              </a:defRPr>
            </a:pPr>
            <a:r>
              <a:t>Using this project’s definition: AQI category 3 or above.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645920"/>
            <a:ext cx="3383280" cy="2240280"/>
          </a:xfrm>
          <a:prstGeom prst="roundRect">
            <a:avLst/>
          </a:prstGeom>
          <a:solidFill>
            <a:srgbClr val="14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645920"/>
            <a:ext cx="64008" cy="2240280"/>
          </a:xfrm>
          <a:prstGeom prst="rect">
            <a:avLst/>
          </a:prstGeom>
          <a:solidFill>
            <a:srgbClr val="FFC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1828800"/>
            <a:ext cx="301752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B0C1CD"/>
                </a:solidFill>
                <a:latin typeface="Aptos"/>
              </a:defRPr>
            </a:pPr>
            <a:r>
              <a:t>RAIN VS NO RAIN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2176272"/>
            <a:ext cx="30175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FFCF66"/>
                </a:solidFill>
                <a:latin typeface="Aptos"/>
              </a:defRPr>
            </a:pPr>
            <a:r>
              <a:t>6.35 vs 11.26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2743200"/>
            <a:ext cx="2999232" cy="1051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F5F8FA"/>
                </a:solidFill>
                <a:latin typeface="Aptos"/>
              </a:defRPr>
            </a:pPr>
            <a:r>
              <a:t>Average PM2.5 was lower when rain was observed.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434840"/>
            <a:ext cx="10241280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B0C1CD"/>
                </a:solidFill>
                <a:latin typeface="Aptos"/>
              </a:defRPr>
            </a:pPr>
            <a:r>
              <a:t>Read these as descriptive results from this dataset—not as universal estimates for every city or season.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DD4BF"/>
                </a:solidFill>
                <a:latin typeface="Aptos"/>
              </a:defRPr>
            </a:pPr>
            <a:r>
              <a:t>05  /  WEATHER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5F8FA"/>
                </a:solidFill>
                <a:latin typeface="Aptos"/>
              </a:defRPr>
            </a:pPr>
            <a:r>
              <a:t>Weather groups do not look alike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914400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800" b="1">
                <a:solidFill>
                  <a:srgbClr val="B0C1CD"/>
                </a:solidFill>
                <a:latin typeface="Aptos"/>
              </a:defRPr>
            </a:pPr>
            <a:r>
              <a:t>AIR POLLUTION + WEATHER  •  EXPLORATORY DATA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2DD4B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51206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DD4BF"/>
                </a:solidFill>
                <a:latin typeface="Aptos"/>
              </a:defRPr>
            </a:pPr>
            <a:r>
              <a:t>MEAN PM2.5 BY SELECTED CONDITIONS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150876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5F8FA"/>
                </a:solidFill>
                <a:latin typeface="Aptos"/>
              </a:defRPr>
            </a:pPr>
            <a:r>
              <a:t>Smoke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14600" y="2075688"/>
            <a:ext cx="3749039" cy="274320"/>
          </a:xfrm>
          <a:prstGeom prst="roundRect">
            <a:avLst/>
          </a:prstGeom>
          <a:solidFill>
            <a:srgbClr val="14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514600" y="2075688"/>
            <a:ext cx="3487440" cy="274320"/>
          </a:xfrm>
          <a:prstGeom prst="roundRect">
            <a:avLst/>
          </a:prstGeom>
          <a:solidFill>
            <a:srgbClr val="FF7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039112"/>
            <a:ext cx="9144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F7564"/>
                </a:solidFill>
                <a:latin typeface="Aptos"/>
              </a:defRPr>
            </a:pPr>
            <a:r>
              <a:t>41.86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79192"/>
            <a:ext cx="150876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5F8FA"/>
                </a:solidFill>
                <a:latin typeface="Aptos"/>
              </a:defRPr>
            </a:pPr>
            <a:r>
              <a:t>Haze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14600" y="2697480"/>
            <a:ext cx="3749039" cy="274320"/>
          </a:xfrm>
          <a:prstGeom prst="roundRect">
            <a:avLst/>
          </a:prstGeom>
          <a:solidFill>
            <a:srgbClr val="14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514600" y="2697480"/>
            <a:ext cx="2150282" cy="274320"/>
          </a:xfrm>
          <a:prstGeom prst="roundRect">
            <a:avLst/>
          </a:prstGeom>
          <a:solidFill>
            <a:srgbClr val="FFC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660904"/>
            <a:ext cx="9144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FCF66"/>
                </a:solidFill>
                <a:latin typeface="Aptos"/>
              </a:defRPr>
            </a:pPr>
            <a:r>
              <a:t>25.81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300984"/>
            <a:ext cx="150876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5F8FA"/>
                </a:solidFill>
                <a:latin typeface="Aptos"/>
              </a:defRPr>
            </a:pPr>
            <a:r>
              <a:t>Clear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14600" y="3319272"/>
            <a:ext cx="3749039" cy="274320"/>
          </a:xfrm>
          <a:prstGeom prst="roundRect">
            <a:avLst/>
          </a:prstGeom>
          <a:solidFill>
            <a:srgbClr val="14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514600" y="3319272"/>
            <a:ext cx="1315496" cy="274320"/>
          </a:xfrm>
          <a:prstGeom prst="roundRect">
            <a:avLst/>
          </a:prstGeom>
          <a:solidFill>
            <a:srgbClr val="B1F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282696"/>
            <a:ext cx="9144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B1F5E0"/>
                </a:solidFill>
                <a:latin typeface="Aptos"/>
              </a:defRPr>
            </a:pPr>
            <a:r>
              <a:t>15.79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922776"/>
            <a:ext cx="150876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5F8FA"/>
                </a:solidFill>
                <a:latin typeface="Aptos"/>
              </a:defRPr>
            </a:pPr>
            <a:r>
              <a:t>Clouds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14600" y="3941063"/>
            <a:ext cx="3749039" cy="274320"/>
          </a:xfrm>
          <a:prstGeom prst="roundRect">
            <a:avLst/>
          </a:prstGeom>
          <a:solidFill>
            <a:srgbClr val="14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14600" y="3941063"/>
            <a:ext cx="742309" cy="27432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3904488"/>
            <a:ext cx="9144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2DD4BF"/>
                </a:solidFill>
                <a:latin typeface="Aptos"/>
              </a:defRPr>
            </a:pPr>
            <a:r>
              <a:t>8.91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544568"/>
            <a:ext cx="150876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5F8FA"/>
                </a:solidFill>
                <a:latin typeface="Aptos"/>
              </a:defRPr>
            </a:pPr>
            <a:r>
              <a:t>Rain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14600" y="4562856"/>
            <a:ext cx="3749039" cy="274320"/>
          </a:xfrm>
          <a:prstGeom prst="roundRect">
            <a:avLst/>
          </a:prstGeom>
          <a:solidFill>
            <a:srgbClr val="14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514600" y="4562856"/>
            <a:ext cx="529031" cy="274320"/>
          </a:xfrm>
          <a:prstGeom prst="roundRect">
            <a:avLst/>
          </a:prstGeom>
          <a:solidFill>
            <a:srgbClr val="E6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4526280"/>
            <a:ext cx="9144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E6EFF3"/>
                </a:solidFill>
                <a:latin typeface="Aptos"/>
              </a:defRPr>
            </a:pPr>
            <a:r>
              <a:t>6.35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9560" y="1691640"/>
            <a:ext cx="3337560" cy="3429000"/>
          </a:xfrm>
          <a:prstGeom prst="roundRect">
            <a:avLst/>
          </a:prstGeom>
          <a:solidFill>
            <a:srgbClr val="14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83879" y="1965960"/>
            <a:ext cx="28346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DD4BF"/>
                </a:solidFill>
                <a:latin typeface="Aptos"/>
              </a:defRPr>
            </a:pPr>
            <a:r>
              <a:t>HOW TO READ THIS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79" y="2423160"/>
            <a:ext cx="2743200" cy="2286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5F8FA"/>
                </a:solidFill>
                <a:latin typeface="Aptos"/>
              </a:defRPr>
            </a:pPr>
            <a:r>
              <a:t>Smoke and haze groups have higher observed PM2.5 averages. Some categories have very few records, so their averages may be unstable.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623560"/>
            <a:ext cx="104241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B0C1CD"/>
                </a:solidFill>
                <a:latin typeface="Aptos"/>
              </a:defRPr>
            </a:pPr>
            <a:r>
              <a:t>Weather labels describe conditions observed with the measurements; they do not prove the weather caused the pollution level.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DD4BF"/>
                </a:solidFill>
                <a:latin typeface="Aptos"/>
              </a:defRPr>
            </a:pPr>
            <a:r>
              <a:t>06  /  LOCATION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5F8FA"/>
                </a:solidFill>
                <a:latin typeface="Aptos"/>
              </a:defRPr>
            </a:pPr>
            <a:r>
              <a:t>Location matters in this sample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914400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800" b="1">
                <a:solidFill>
                  <a:srgbClr val="B0C1CD"/>
                </a:solidFill>
                <a:latin typeface="Aptos"/>
              </a:defRPr>
            </a:pPr>
            <a:r>
              <a:t>AIR POLLUTION + WEATHER  •  EXPLORATORY DATA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2DD4BF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5029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DD4BF"/>
                </a:solidFill>
                <a:latin typeface="Aptos"/>
              </a:defRPr>
            </a:pPr>
            <a:r>
              <a:t>MEDIAN PM2.5 BY CONTINENT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7315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5F8FA"/>
                </a:solidFill>
                <a:latin typeface="Aptos"/>
              </a:defRPr>
            </a:pPr>
            <a:r>
              <a:t>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2075688"/>
            <a:ext cx="3474720" cy="274320"/>
          </a:xfrm>
          <a:prstGeom prst="roundRect">
            <a:avLst/>
          </a:prstGeom>
          <a:solidFill>
            <a:srgbClr val="14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828800" y="2075688"/>
            <a:ext cx="3329939" cy="274320"/>
          </a:xfrm>
          <a:prstGeom prst="roundRect">
            <a:avLst/>
          </a:prstGeom>
          <a:solidFill>
            <a:srgbClr val="FF7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0" y="2039112"/>
            <a:ext cx="10058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F7564"/>
                </a:solidFill>
                <a:latin typeface="Aptos"/>
              </a:defRPr>
            </a:pPr>
            <a:r>
              <a:t>11.50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79192"/>
            <a:ext cx="7315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5F8FA"/>
                </a:solidFill>
                <a:latin typeface="Aptos"/>
              </a:defRPr>
            </a:pPr>
            <a:r>
              <a:t>AF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0" y="2697480"/>
            <a:ext cx="3474720" cy="274320"/>
          </a:xfrm>
          <a:prstGeom prst="roundRect">
            <a:avLst/>
          </a:prstGeom>
          <a:solidFill>
            <a:srgbClr val="14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828800" y="2697480"/>
            <a:ext cx="1413052" cy="274320"/>
          </a:xfrm>
          <a:prstGeom prst="roundRect">
            <a:avLst/>
          </a:prstGeom>
          <a:solidFill>
            <a:srgbClr val="FFC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0" y="2660904"/>
            <a:ext cx="10058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FCF66"/>
                </a:solidFill>
                <a:latin typeface="Aptos"/>
              </a:defRPr>
            </a:pPr>
            <a:r>
              <a:t>4.88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300984"/>
            <a:ext cx="7315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5F8FA"/>
                </a:solidFill>
                <a:latin typeface="Aptos"/>
              </a:defRPr>
            </a:pPr>
            <a:r>
              <a:t>EU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3319272"/>
            <a:ext cx="3474720" cy="274320"/>
          </a:xfrm>
          <a:prstGeom prst="roundRect">
            <a:avLst/>
          </a:prstGeom>
          <a:solidFill>
            <a:srgbClr val="14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828800" y="3319272"/>
            <a:ext cx="1088745" cy="27432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0" y="3282696"/>
            <a:ext cx="10058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2DD4BF"/>
                </a:solidFill>
                <a:latin typeface="Aptos"/>
              </a:defRPr>
            </a:pPr>
            <a:r>
              <a:t>3.76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922776"/>
            <a:ext cx="7315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5F8FA"/>
                </a:solidFill>
                <a:latin typeface="Aptos"/>
              </a:defRPr>
            </a:pPr>
            <a:r>
              <a:t>SA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28800" y="3941063"/>
            <a:ext cx="3474720" cy="274320"/>
          </a:xfrm>
          <a:prstGeom prst="roundRect">
            <a:avLst/>
          </a:prstGeom>
          <a:solidFill>
            <a:srgbClr val="14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828800" y="3941063"/>
            <a:ext cx="833932" cy="274320"/>
          </a:xfrm>
          <a:prstGeom prst="roundRect">
            <a:avLst/>
          </a:prstGeom>
          <a:solidFill>
            <a:srgbClr val="B1F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0" y="3904488"/>
            <a:ext cx="10058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B1F5E0"/>
                </a:solidFill>
                <a:latin typeface="Aptos"/>
              </a:defRPr>
            </a:pPr>
            <a:r>
              <a:t>2.88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544568"/>
            <a:ext cx="7315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5F8FA"/>
                </a:solidFill>
                <a:latin typeface="Aptos"/>
              </a:defRPr>
            </a:pPr>
            <a:r>
              <a:t>OC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28800" y="4562856"/>
            <a:ext cx="3474720" cy="274320"/>
          </a:xfrm>
          <a:prstGeom prst="roundRect">
            <a:avLst/>
          </a:prstGeom>
          <a:solidFill>
            <a:srgbClr val="14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828800" y="4562856"/>
            <a:ext cx="477773" cy="274320"/>
          </a:xfrm>
          <a:prstGeom prst="roundRect">
            <a:avLst/>
          </a:prstGeom>
          <a:solidFill>
            <a:srgbClr val="E6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0" y="4526280"/>
            <a:ext cx="10058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E6EFF3"/>
                </a:solidFill>
                <a:latin typeface="Aptos"/>
              </a:defRPr>
            </a:pPr>
            <a:r>
              <a:t>1.65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0" y="1737360"/>
            <a:ext cx="3931920" cy="3474720"/>
          </a:xfrm>
          <a:prstGeom prst="roundRect">
            <a:avLst/>
          </a:prstGeom>
          <a:solidFill>
            <a:srgbClr val="14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35240" y="2011680"/>
            <a:ext cx="32004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DD4BF"/>
                </a:solidFill>
                <a:latin typeface="Aptos"/>
              </a:defRPr>
            </a:pPr>
            <a:r>
              <a:t>INTERPRET WITH CARE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40" y="2514600"/>
            <a:ext cx="32004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5F8FA"/>
                </a:solidFill>
                <a:latin typeface="Aptos"/>
              </a:defRPr>
            </a:pPr>
            <a:r>
              <a:t>Continent codes are abbreviated and some records lack continent labels. Uneven city coverage can affect group comparisons.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DD4BF"/>
                </a:solidFill>
                <a:latin typeface="Aptos"/>
              </a:defRPr>
            </a:pPr>
            <a:r>
              <a:t>07  /  HYPOTHESIS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5F8FA"/>
                </a:solidFill>
                <a:latin typeface="Aptos"/>
              </a:defRPr>
            </a:pPr>
            <a:r>
              <a:t>Statistics add structure—not certainty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914400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800" b="1">
                <a:solidFill>
                  <a:srgbClr val="B0C1CD"/>
                </a:solidFill>
                <a:latin typeface="Aptos"/>
              </a:defRPr>
            </a:pPr>
            <a:r>
              <a:t>AIR POLLUTION + WEATHER  •  EXPLORATORY DATA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2DD4BF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102412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DD4BF"/>
                </a:solidFill>
                <a:latin typeface="Aptos"/>
              </a:defRPr>
            </a:pPr>
            <a:r>
              <a:t>Five exploratory tests were run with α = 0.05.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57400"/>
            <a:ext cx="10378440" cy="502920"/>
          </a:xfrm>
          <a:prstGeom prst="roundRect">
            <a:avLst/>
          </a:prstGeom>
          <a:solidFill>
            <a:srgbClr val="14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167128"/>
            <a:ext cx="31546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DD4BF"/>
                </a:solidFill>
                <a:latin typeface="Aptos"/>
              </a:defRPr>
            </a:pPr>
            <a:r>
              <a:t>One-sample proportion z-test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2167128"/>
            <a:ext cx="64922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F5F8FA"/>
                </a:solidFill>
                <a:latin typeface="Aptos"/>
              </a:defRPr>
            </a:pPr>
            <a:r>
              <a:t>High-AQI share vs a chosen 20% benchmark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715768"/>
            <a:ext cx="10378440" cy="502920"/>
          </a:xfrm>
          <a:prstGeom prst="roundRect">
            <a:avLst/>
          </a:prstGeom>
          <a:solidFill>
            <a:srgbClr val="14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2825496"/>
            <a:ext cx="31546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DD4BF"/>
                </a:solidFill>
                <a:latin typeface="Aptos"/>
              </a:defRPr>
            </a:pPr>
            <a:r>
              <a:t>Welch two-sample t-test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825496"/>
            <a:ext cx="64922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F5F8FA"/>
                </a:solidFill>
                <a:latin typeface="Aptos"/>
              </a:defRPr>
            </a:pPr>
            <a:r>
              <a:t>Mean PM2.5: observed rain vs no observed rain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374136"/>
            <a:ext cx="10378440" cy="502920"/>
          </a:xfrm>
          <a:prstGeom prst="roundRect">
            <a:avLst/>
          </a:prstGeom>
          <a:solidFill>
            <a:srgbClr val="14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3483864"/>
            <a:ext cx="31546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DD4BF"/>
                </a:solidFill>
                <a:latin typeface="Aptos"/>
              </a:defRPr>
            </a:pPr>
            <a:r>
              <a:t>Chi-square 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3483864"/>
            <a:ext cx="64922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F5F8FA"/>
                </a:solidFill>
                <a:latin typeface="Aptos"/>
              </a:defRPr>
            </a:pPr>
            <a:r>
              <a:t>Association between AQI category and grouped weather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4032504"/>
            <a:ext cx="10378440" cy="502920"/>
          </a:xfrm>
          <a:prstGeom prst="roundRect">
            <a:avLst/>
          </a:prstGeom>
          <a:solidFill>
            <a:srgbClr val="14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4142232"/>
            <a:ext cx="31546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DD4BF"/>
                </a:solidFill>
                <a:latin typeface="Aptos"/>
              </a:defRPr>
            </a:pPr>
            <a:r>
              <a:t>One-way ANOVA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4142232"/>
            <a:ext cx="64922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F5F8FA"/>
                </a:solidFill>
                <a:latin typeface="Aptos"/>
              </a:defRPr>
            </a:pPr>
            <a:r>
              <a:t>Mean PM2.5 differences across continent groups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690872"/>
            <a:ext cx="10378440" cy="502920"/>
          </a:xfrm>
          <a:prstGeom prst="roundRect">
            <a:avLst/>
          </a:prstGeom>
          <a:solidFill>
            <a:srgbClr val="14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4800600"/>
            <a:ext cx="31546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DD4BF"/>
                </a:solidFill>
                <a:latin typeface="Aptos"/>
              </a:defRPr>
            </a:pPr>
            <a:r>
              <a:t>Two-proportion z-test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4800600"/>
            <a:ext cx="64922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F5F8FA"/>
                </a:solidFill>
                <a:latin typeface="Aptos"/>
              </a:defRPr>
            </a:pPr>
            <a:r>
              <a:t>High-AQI share: rain vs no rain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5669280"/>
            <a:ext cx="102412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FFCF66"/>
                </a:solidFill>
                <a:latin typeface="Aptos"/>
              </a:defRPr>
            </a:pPr>
            <a:r>
              <a:t>Reported p-values were below 0.001 for these tests; statistical significance does not measure practical importance.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DD4BF"/>
                </a:solidFill>
                <a:latin typeface="Aptos"/>
              </a:defRPr>
            </a:pPr>
            <a:r>
              <a:t>08  / 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5F8FA"/>
                </a:solidFill>
                <a:latin typeface="Aptos"/>
              </a:defRPr>
            </a:pPr>
            <a:r>
              <a:t>What the analysis cannot claim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914400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800" b="1">
                <a:solidFill>
                  <a:srgbClr val="B0C1CD"/>
                </a:solidFill>
                <a:latin typeface="Aptos"/>
              </a:defRPr>
            </a:pPr>
            <a:r>
              <a:t>AIR POLLUTION + WEATHER  •  EXPLORATORY DATA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2DD4BF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746504"/>
            <a:ext cx="118872" cy="118872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691640"/>
            <a:ext cx="10058400" cy="71323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5F8FA"/>
                </a:solidFill>
                <a:latin typeface="Aptos"/>
              </a:defRPr>
            </a:pPr>
            <a:r>
              <a:t>Association is not causation: this analysis is observational.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505456"/>
            <a:ext cx="118872" cy="118872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450592"/>
            <a:ext cx="10058400" cy="71323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5F8FA"/>
                </a:solidFill>
                <a:latin typeface="Aptos"/>
              </a:defRPr>
            </a:pPr>
            <a:r>
              <a:t>Measurements may be clustered by city and country; rows may not be fully independent.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264408"/>
            <a:ext cx="118872" cy="118872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209544"/>
            <a:ext cx="10058400" cy="71323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5F8FA"/>
                </a:solidFill>
                <a:latin typeface="Aptos"/>
              </a:defRPr>
            </a:pPr>
            <a:r>
              <a:t>The AQI ≥ 3 threshold and 20% benchmark are project choices, not official standards.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023359"/>
            <a:ext cx="118872" cy="118872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968496"/>
            <a:ext cx="10058400" cy="71323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5F8FA"/>
                </a:solidFill>
                <a:latin typeface="Aptos"/>
              </a:defRPr>
            </a:pPr>
            <a:r>
              <a:t>Confirm pollutant units and source definitions before comparing with external thresholds.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782312"/>
            <a:ext cx="118872" cy="118872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727448"/>
            <a:ext cx="10058400" cy="71323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5F8FA"/>
                </a:solidFill>
                <a:latin typeface="Aptos"/>
              </a:defRPr>
            </a:pPr>
            <a:r>
              <a:t>Check timestamp consistency before analysing trends over time or seasons.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DD4BF"/>
                </a:solidFill>
                <a:latin typeface="Aptos"/>
              </a:defRPr>
            </a:pPr>
            <a:r>
              <a:t>09  / 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5F8FA"/>
                </a:solidFill>
                <a:latin typeface="Aptos"/>
              </a:defRPr>
            </a:pPr>
            <a:r>
              <a:t>A clear 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914400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800" b="1">
                <a:solidFill>
                  <a:srgbClr val="B0C1CD"/>
                </a:solidFill>
                <a:latin typeface="Aptos"/>
              </a:defRPr>
            </a:pPr>
            <a:r>
              <a:t>AIR POLLUTION + WEATHER  •  EXPLORATORY DATA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2DD4BF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6629400" cy="3520440"/>
          </a:xfrm>
          <a:prstGeom prst="roundRect">
            <a:avLst/>
          </a:prstGeom>
          <a:solidFill>
            <a:srgbClr val="14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965960"/>
            <a:ext cx="58978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DD4BF"/>
                </a:solidFill>
                <a:latin typeface="Aptos"/>
              </a:defRPr>
            </a:pPr>
            <a:r>
              <a:t>WHAT WE LEARNED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514600"/>
            <a:ext cx="5669280" cy="21488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F5F8FA"/>
                </a:solidFill>
                <a:latin typeface="Aptos"/>
              </a:defRPr>
            </a:pPr>
            <a:r>
              <a:t>Observed PM2.5 differs across weather labels and geographic groups. Rain observations coincide with lower average PM2.5 in this dataset, while smoke and haze groups show higher averages.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1645920"/>
            <a:ext cx="3474720" cy="352044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2011680"/>
            <a:ext cx="28346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0D1B2A"/>
                </a:solidFill>
                <a:latin typeface="Aptos"/>
              </a:defRPr>
            </a:pPr>
            <a:r>
              <a:t>NEXT STEP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560320"/>
            <a:ext cx="2743200" cy="2011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D1B2A"/>
                </a:solidFill>
                <a:latin typeface="Aptos"/>
              </a:defRPr>
            </a:pPr>
            <a:r>
              <a:t>Validate the source and timestamps, then use repeated measurements over time for stronger city-level conclusions.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715000"/>
            <a:ext cx="102412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B0C1CD"/>
                </a:solidFill>
                <a:latin typeface="Aptos"/>
              </a:defRPr>
            </a:pPr>
            <a:r>
              <a:t>The notebook contains the project’s graphs and the detailed analysis workflow.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Dell_KG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